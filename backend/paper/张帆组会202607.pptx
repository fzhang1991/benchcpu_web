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43" r:id="rId2"/>
    <p:sldId id="260" r:id="rId3"/>
    <p:sldId id="344" r:id="rId4"/>
    <p:sldId id="310" r:id="rId5"/>
    <p:sldId id="347" r:id="rId6"/>
    <p:sldId id="346" r:id="rId7"/>
    <p:sldId id="348" r:id="rId8"/>
    <p:sldId id="351" r:id="rId9"/>
    <p:sldId id="350" r:id="rId10"/>
    <p:sldId id="352" r:id="rId11"/>
    <p:sldId id="258" r:id="rId12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4E92"/>
    <a:srgbClr val="B3CBEF"/>
    <a:srgbClr val="1E4F93"/>
    <a:srgbClr val="90B4E8"/>
    <a:srgbClr val="FFFFFF"/>
    <a:srgbClr val="F2F2F2"/>
    <a:srgbClr val="C3C3C3"/>
    <a:srgbClr val="D9D9D9"/>
    <a:srgbClr val="1680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2" autoAdjust="0"/>
    <p:restoredTop sz="94660"/>
  </p:normalViewPr>
  <p:slideViewPr>
    <p:cSldViewPr snapToGrid="0">
      <p:cViewPr varScale="1">
        <p:scale>
          <a:sx n="83" d="100"/>
          <a:sy n="83" d="100"/>
        </p:scale>
        <p:origin x="2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</a:rPr>
              <a:t>2026/7/16</a:t>
            </a:fld>
            <a:endParaRPr lang="zh-CN" altLang="en-US" dirty="0"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</a:rPr>
              <a:t>‹#›</a:t>
            </a:fld>
            <a:endParaRPr lang="zh-CN" altLang="en-US" dirty="0"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思源黑体 CN Heavy" panose="020B0A00000000000000" charset="-122"/>
        <a:ea typeface="思源黑体 CN Heavy" panose="020B0A00000000000000" charset="-122"/>
        <a:cs typeface="思源黑体 CN Heavy" panose="020B0A00000000000000" charset="-122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思源黑体 CN Heavy" panose="020B0A00000000000000" charset="-122"/>
        <a:ea typeface="思源黑体 CN Heavy" panose="020B0A00000000000000" charset="-122"/>
        <a:cs typeface="思源黑体 CN Heavy" panose="020B0A00000000000000" charset="-122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思源黑体 CN Heavy" panose="020B0A00000000000000" charset="-122"/>
        <a:ea typeface="思源黑体 CN Heavy" panose="020B0A00000000000000" charset="-122"/>
        <a:cs typeface="思源黑体 CN Heavy" panose="020B0A00000000000000" charset="-122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思源黑体 CN Heavy" panose="020B0A00000000000000" charset="-122"/>
        <a:ea typeface="思源黑体 CN Heavy" panose="020B0A00000000000000" charset="-122"/>
        <a:cs typeface="思源黑体 CN Heavy" panose="020B0A00000000000000" charset="-122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思源黑体 CN Heavy" panose="020B0A00000000000000" charset="-122"/>
        <a:ea typeface="思源黑体 CN Heavy" panose="020B0A00000000000000" charset="-122"/>
        <a:cs typeface="思源黑体 CN Heavy" panose="020B0A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u="none" strike="noStrike" kern="1200" dirty="0">
                <a:solidFill>
                  <a:schemeClr val="tx1"/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1. 这些主导指标在 BenchCPU 里本身更“散”</a:t>
            </a:r>
            <a:r>
              <a:rPr lang="zh-CN" altLang="zh-CN" dirty="0">
                <a:effectLst/>
              </a:rPr>
              <a:t> </a:t>
            </a:r>
          </a:p>
          <a:p>
            <a:r>
              <a:rPr lang="zh-CN" altLang="zh-CN" sz="1200" b="0" i="0" u="none" strike="noStrike" kern="1200" dirty="0">
                <a:solidFill>
                  <a:schemeClr val="tx1"/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Branch_MPKI: std 3.5902 vs 1.7592</a:t>
            </a:r>
            <a:r>
              <a:rPr lang="zh-CN" altLang="zh-CN" dirty="0">
                <a:effectLst/>
              </a:rPr>
              <a:t> </a:t>
            </a:r>
          </a:p>
          <a:p>
            <a:r>
              <a:rPr lang="zh-CN" altLang="zh-CN" sz="1200" b="0" i="0" u="none" strike="noStrike" kern="1200" dirty="0">
                <a:solidFill>
                  <a:schemeClr val="tx1"/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Lost_%: std 7.7990 vs 5.0373</a:t>
            </a:r>
            <a:r>
              <a:rPr lang="zh-CN" altLang="zh-CN" dirty="0">
                <a:effectLst/>
              </a:rPr>
              <a:t> </a:t>
            </a:r>
          </a:p>
          <a:p>
            <a:r>
              <a:rPr lang="zh-CN" altLang="zh-CN" sz="1200" b="0" i="0" u="none" strike="noStrike" kern="1200" dirty="0">
                <a:solidFill>
                  <a:schemeClr val="tx1"/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L2/L3_MPKI: std 10.48 vs 5.25，range 约 62 vs 20</a:t>
            </a:r>
            <a:r>
              <a:rPr lang="zh-CN" altLang="zh-CN" dirty="0">
                <a:effectLst/>
              </a:rPr>
              <a:t> </a:t>
            </a:r>
          </a:p>
          <a:p>
            <a:r>
              <a:rPr lang="zh-CN" altLang="zh-CN" sz="1200" b="0" i="0" u="none" strike="noStrike" kern="1200" dirty="0">
                <a:solidFill>
                  <a:schemeClr val="tx1"/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这会直接放大 PC1 的投影范围。</a:t>
            </a:r>
            <a:r>
              <a:rPr lang="zh-CN" altLang="zh-CN" dirty="0">
                <a:effectLst/>
              </a:rPr>
              <a:t> </a:t>
            </a:r>
          </a:p>
          <a:p>
            <a:r>
              <a:rPr lang="zh-CN" altLang="zh-CN" sz="1200" b="0" i="0" u="none" strike="noStrike" kern="1200" dirty="0">
                <a:solidFill>
                  <a:schemeClr val="tx1"/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2. BenchCPU 有更强的正向尾部离群点</a:t>
            </a:r>
            <a:r>
              <a:rPr lang="zh-CN" altLang="zh-CN" dirty="0">
                <a:effectLst/>
              </a:rPr>
              <a:t> </a:t>
            </a:r>
          </a:p>
          <a:p>
            <a:r>
              <a:rPr lang="zh-CN" altLang="zh-CN" sz="1200" b="0" i="0" u="none" strike="noStrike" kern="1200" dirty="0">
                <a:solidFill>
                  <a:schemeClr val="tx1"/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PC1 最高点来自数据库类工作负载：</a:t>
            </a:r>
            <a:r>
              <a:rPr lang="zh-CN" altLang="zh-CN" dirty="0">
                <a:effectLst/>
              </a:rPr>
              <a:t> </a:t>
            </a:r>
          </a:p>
          <a:p>
            <a:r>
              <a:rPr lang="zh-CN" altLang="zh-CN" sz="1200" b="0" i="0" u="none" strike="noStrike" kern="1200" dirty="0">
                <a:solidFill>
                  <a:schemeClr val="tx1"/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rocksdb_benchmark.rocksdb_cpu (PC1=9.54), cockroachdb_benchmark.kv (8.52), cassandra_benchmark.cassandra_stress_read (7.11)。</a:t>
            </a:r>
            <a:r>
              <a:rPr lang="zh-CN" altLang="zh-CN" dirty="0">
                <a:effectLst/>
              </a:rPr>
              <a:t> </a:t>
            </a:r>
          </a:p>
          <a:p>
            <a:r>
              <a:rPr lang="zh-CN" altLang="zh-CN" sz="1200" b="0" i="0" u="none" strike="noStrike" kern="1200" dirty="0">
                <a:solidFill>
                  <a:schemeClr val="tx1"/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这些样本在 Branch_MPKI、L2/L3_MPKI、Lost_% 上都偏高，正好与 PC1 正载荷方向一致，因此把 BenchCPU 的右侧拉得很长。</a:t>
            </a:r>
            <a:r>
              <a:rPr lang="zh-CN" altLang="zh-CN" dirty="0">
                <a:effectLst/>
              </a:rPr>
              <a:t>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6765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EC93A-702C-CB6E-9AF5-22A20649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4AF80C-6E30-8347-08D5-A99E82A99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F6C0A2-2171-6964-9E6E-785A7E495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15B644-9215-ECD8-4319-9A9602C23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987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F88C-B037-3CE4-4DFC-B1482C8EA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6E3AD6-5EAF-DF11-0AB3-2B35A9102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1D899C-A477-0C60-CF20-B219ED581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中位数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732832-612A-659A-AF53-F1A2D105B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9690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中位数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5828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  <a:lvl2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2pPr>
            <a:lvl3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3pPr>
            <a:lvl4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4pPr>
            <a:lvl5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  <a:lvl2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2pPr>
            <a:lvl3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3pPr>
            <a:lvl4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4pPr>
            <a:lvl5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  <a:lvl2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2pPr>
            <a:lvl3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3pPr>
            <a:lvl4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4pPr>
            <a:lvl5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  <a:lvl2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2pPr>
            <a:lvl3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3pPr>
            <a:lvl4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4pPr>
            <a:lvl5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  <a:lvl2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2pPr>
            <a:lvl3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3pPr>
            <a:lvl4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4pPr>
            <a:lvl5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  <a:lvl2pPr>
              <a:defRPr sz="2800" b="0" i="0">
                <a:latin typeface="思源黑体 CN Heavy" panose="020B0A00000000000000" charset="-122"/>
                <a:ea typeface="思源黑体 CN Heavy" panose="020B0A00000000000000" charset="-122"/>
              </a:defRPr>
            </a:lvl2pPr>
            <a:lvl3pPr>
              <a:defRPr sz="2400" b="0" i="0">
                <a:latin typeface="思源黑体 CN Heavy" panose="020B0A00000000000000" charset="-122"/>
                <a:ea typeface="思源黑体 CN Heavy" panose="020B0A00000000000000" charset="-122"/>
              </a:defRPr>
            </a:lvl3pPr>
            <a:lvl4pPr>
              <a:defRPr sz="2000" b="0" i="0">
                <a:latin typeface="思源黑体 CN Heavy" panose="020B0A00000000000000" charset="-122"/>
                <a:ea typeface="思源黑体 CN Heavy" panose="020B0A00000000000000" charset="-122"/>
              </a:defRPr>
            </a:lvl4pPr>
            <a:lvl5pPr>
              <a:defRPr sz="2000" b="0" i="0">
                <a:latin typeface="思源黑体 CN Heavy" panose="020B0A00000000000000" charset="-122"/>
                <a:ea typeface="思源黑体 CN Heavy" panose="020B0A00000000000000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  <a:lvl2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2pPr>
            <a:lvl3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3pPr>
            <a:lvl4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4pPr>
            <a:lvl5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  <a:lvl2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2pPr>
            <a:lvl3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3pPr>
            <a:lvl4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4pPr>
            <a:lvl5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思源黑体 CN Heavy" panose="020B0A00000000000000" charset="-122"/>
                <a:ea typeface="思源黑体 CN Heavy" panose="020B0A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思源黑体 CN Heavy" panose="020B0A00000000000000" charset="-122"/>
          <a:ea typeface="思源黑体 CN Heavy" panose="020B0A00000000000000" charset="-122"/>
          <a:cs typeface="思源黑体 CN Heavy" panose="020B0A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思源黑体 CN Heavy" panose="020B0A00000000000000" charset="-122"/>
          <a:ea typeface="思源黑体 CN Heavy" panose="020B0A00000000000000" charset="-122"/>
          <a:cs typeface="思源黑体 CN Heavy" panose="020B0A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思源黑体 CN Heavy" panose="020B0A00000000000000" charset="-122"/>
          <a:ea typeface="思源黑体 CN Heavy" panose="020B0A00000000000000" charset="-122"/>
          <a:cs typeface="思源黑体 CN Heavy" panose="020B0A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思源黑体 CN Heavy" panose="020B0A00000000000000" charset="-122"/>
          <a:ea typeface="思源黑体 CN Heavy" panose="020B0A00000000000000" charset="-122"/>
          <a:cs typeface="思源黑体 CN Heavy" panose="020B0A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思源黑体 CN Heavy" panose="020B0A00000000000000" charset="-122"/>
          <a:ea typeface="思源黑体 CN Heavy" panose="020B0A00000000000000" charset="-122"/>
          <a:cs typeface="思源黑体 CN Heavy" panose="020B0A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思源黑体 CN Heavy" panose="020B0A00000000000000" charset="-122"/>
          <a:ea typeface="思源黑体 CN Heavy" panose="020B0A00000000000000" charset="-122"/>
          <a:cs typeface="思源黑体 CN Heavy" panose="020B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255905"/>
            <a:ext cx="12192000" cy="6345555"/>
            <a:chOff x="0" y="403"/>
            <a:chExt cx="19200" cy="9993"/>
          </a:xfrm>
          <a:effectLst>
            <a:outerShdw blurRad="254000" algn="ctr" rotWithShape="0">
              <a:prstClr val="black">
                <a:alpha val="25000"/>
              </a:prstClr>
            </a:outerShdw>
          </a:effectLst>
        </p:grpSpPr>
        <p:grpSp>
          <p:nvGrpSpPr>
            <p:cNvPr id="9" name="组合 8"/>
            <p:cNvGrpSpPr/>
            <p:nvPr/>
          </p:nvGrpSpPr>
          <p:grpSpPr>
            <a:xfrm>
              <a:off x="0" y="403"/>
              <a:ext cx="18701" cy="9661"/>
              <a:chOff x="0" y="403"/>
              <a:chExt cx="18701" cy="9661"/>
            </a:xfrm>
            <a:effectLst>
              <a:outerShdw blurRad="254000" algn="ctr" rotWithShape="0">
                <a:prstClr val="black">
                  <a:alpha val="25000"/>
                </a:prstClr>
              </a:outerShdw>
            </a:effectLst>
          </p:grpSpPr>
          <p:sp>
            <p:nvSpPr>
              <p:cNvPr id="10" name="矩形 9"/>
              <p:cNvSpPr/>
              <p:nvPr/>
            </p:nvSpPr>
            <p:spPr>
              <a:xfrm>
                <a:off x="500" y="736"/>
                <a:ext cx="18201" cy="932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D9D9D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0" y="403"/>
                <a:ext cx="14360" cy="367"/>
              </a:xfrm>
              <a:prstGeom prst="rect">
                <a:avLst/>
              </a:prstGeom>
              <a:solidFill>
                <a:srgbClr val="1E4E9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4840" y="10030"/>
              <a:ext cx="14360" cy="367"/>
            </a:xfrm>
            <a:prstGeom prst="rect">
              <a:avLst/>
            </a:prstGeom>
            <a:solidFill>
              <a:srgbClr val="1E4E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7" name="椭圆 6"/>
          <p:cNvSpPr/>
          <p:nvPr/>
        </p:nvSpPr>
        <p:spPr>
          <a:xfrm>
            <a:off x="11379200" y="762000"/>
            <a:ext cx="245110" cy="24511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589915" y="5916930"/>
            <a:ext cx="245110" cy="24511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082040" y="2224405"/>
            <a:ext cx="10025380" cy="1826895"/>
            <a:chOff x="1703" y="3587"/>
            <a:chExt cx="15788" cy="2877"/>
          </a:xfrm>
        </p:grpSpPr>
        <p:sp>
          <p:nvSpPr>
            <p:cNvPr id="21" name="文本框 20"/>
            <p:cNvSpPr txBox="1"/>
            <p:nvPr/>
          </p:nvSpPr>
          <p:spPr>
            <a:xfrm>
              <a:off x="1703" y="3587"/>
              <a:ext cx="15788" cy="1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6600" b="1" spc="500" dirty="0">
                  <a:solidFill>
                    <a:srgbClr val="1E4E92"/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cs typeface="思源黑体 CN Heavy" panose="020B0A00000000000000" charset="-122"/>
                </a:rPr>
                <a:t>CPU</a:t>
              </a:r>
              <a:r>
                <a:rPr lang="zh-CN" altLang="en-US" sz="6600" b="1" spc="500" dirty="0">
                  <a:solidFill>
                    <a:srgbClr val="1E4E92"/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cs typeface="思源黑体 CN Heavy" panose="020B0A00000000000000" charset="-122"/>
                </a:rPr>
                <a:t>排行榜</a:t>
              </a: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5406" y="5786"/>
              <a:ext cx="8382" cy="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2000" spc="100" dirty="0">
                  <a:solidFill>
                    <a:srgbClr val="1E4E92"/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cs typeface="思源黑体 CN Heavy" panose="020B0A00000000000000" charset="-122"/>
                  <a:sym typeface="+mn-ea"/>
                </a:rPr>
                <a:t>组会汇报</a:t>
              </a:r>
              <a:r>
                <a:rPr lang="en-US" altLang="zh-CN" sz="2000" spc="100" dirty="0">
                  <a:solidFill>
                    <a:srgbClr val="1E4E92"/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cs typeface="思源黑体 CN Heavy" panose="020B0A00000000000000" charset="-122"/>
                  <a:sym typeface="+mn-ea"/>
                </a:rPr>
                <a:t>2026/07</a:t>
              </a:r>
              <a:endParaRPr lang="zh-CN" altLang="en-US" sz="2000" spc="100" dirty="0">
                <a:solidFill>
                  <a:srgbClr val="1E4E92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  <a:sym typeface="+mn-ea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690745" y="4961890"/>
            <a:ext cx="2810510" cy="454025"/>
            <a:chOff x="7394" y="7844"/>
            <a:chExt cx="4426" cy="715"/>
          </a:xfrm>
        </p:grpSpPr>
        <p:sp>
          <p:nvSpPr>
            <p:cNvPr id="42" name="圆角矩形 41"/>
            <p:cNvSpPr/>
            <p:nvPr/>
          </p:nvSpPr>
          <p:spPr>
            <a:xfrm>
              <a:off x="7394" y="7854"/>
              <a:ext cx="4426" cy="705"/>
            </a:xfrm>
            <a:prstGeom prst="roundRect">
              <a:avLst>
                <a:gd name="adj" fmla="val 0"/>
              </a:avLst>
            </a:prstGeom>
            <a:solidFill>
              <a:srgbClr val="1E4E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7680" y="7844"/>
              <a:ext cx="3853" cy="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2000" spc="300" dirty="0">
                  <a:solidFill>
                    <a:schemeClr val="bg1"/>
                  </a:solidFill>
                  <a:latin typeface="思源黑体 CN Heavy" panose="020B0A00000000000000" charset="-122"/>
                  <a:ea typeface="思源黑体 CN Heavy" panose="020B0A00000000000000" charset="-122"/>
                  <a:cs typeface="思源黑体 CN Heavy" panose="020B0A00000000000000" charset="-122"/>
                  <a:sym typeface="+mn-ea"/>
                </a:rPr>
                <a:t>报告人</a:t>
              </a:r>
              <a:r>
                <a:rPr lang="zh-CN" altLang="en-US" sz="2000" spc="300" dirty="0">
                  <a:solidFill>
                    <a:schemeClr val="bg1"/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cs typeface="思源黑体 CN Heavy" panose="020B0A00000000000000" charset="-122"/>
                  <a:sym typeface="+mn-ea"/>
                </a:rPr>
                <a:t>：张帆</a:t>
              </a:r>
              <a:endParaRPr lang="en-US" altLang="zh-CN" sz="2000" spc="300" dirty="0">
                <a:solidFill>
                  <a:schemeClr val="bg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>
          <a:xfrm>
            <a:off x="589915" y="5726012"/>
            <a:ext cx="245110" cy="24511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49120" y="769620"/>
            <a:ext cx="8493760" cy="12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6600" spc="500" dirty="0">
                <a:solidFill>
                  <a:srgbClr val="1E4E92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内容</a:t>
            </a:r>
            <a:endParaRPr lang="en-US" altLang="zh-CN" sz="6600" spc="500" dirty="0">
              <a:solidFill>
                <a:srgbClr val="1E4E92"/>
              </a:solidFill>
              <a:uFillTx/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170429" y="2338287"/>
            <a:ext cx="3236457" cy="1186815"/>
            <a:chOff x="3843" y="3841"/>
            <a:chExt cx="4310" cy="1869"/>
          </a:xfrm>
        </p:grpSpPr>
        <p:sp>
          <p:nvSpPr>
            <p:cNvPr id="3" name="椭圆 2"/>
            <p:cNvSpPr/>
            <p:nvPr/>
          </p:nvSpPr>
          <p:spPr>
            <a:xfrm>
              <a:off x="3843" y="4162"/>
              <a:ext cx="225" cy="225"/>
            </a:xfrm>
            <a:prstGeom prst="ellipse">
              <a:avLst/>
            </a:prstGeom>
            <a:solidFill>
              <a:srgbClr val="1E4E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3200" dirty="0"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  <a:sym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269" y="3841"/>
              <a:ext cx="2710" cy="1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1E4E92"/>
                  </a:solidFill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rPr>
                <a:t>PART 01</a:t>
              </a: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3843" y="4588"/>
              <a:ext cx="3601" cy="0"/>
            </a:xfrm>
            <a:prstGeom prst="line">
              <a:avLst/>
            </a:prstGeom>
            <a:noFill/>
            <a:ln w="222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3843" y="4789"/>
              <a:ext cx="4310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rPr>
                <a:t>网站介绍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945630" y="2338287"/>
            <a:ext cx="3298300" cy="1186815"/>
            <a:chOff x="3843" y="3841"/>
            <a:chExt cx="4310" cy="1869"/>
          </a:xfrm>
        </p:grpSpPr>
        <p:sp>
          <p:nvSpPr>
            <p:cNvPr id="15" name="椭圆 14"/>
            <p:cNvSpPr/>
            <p:nvPr/>
          </p:nvSpPr>
          <p:spPr>
            <a:xfrm>
              <a:off x="3843" y="4162"/>
              <a:ext cx="225" cy="225"/>
            </a:xfrm>
            <a:prstGeom prst="ellipse">
              <a:avLst/>
            </a:prstGeom>
            <a:solidFill>
              <a:srgbClr val="1E4E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3200" dirty="0"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  <a:sym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288" y="3841"/>
              <a:ext cx="2710" cy="1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1E4E92"/>
                  </a:solidFill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rPr>
                <a:t>PART 02</a:t>
              </a: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3843" y="4588"/>
              <a:ext cx="3601" cy="0"/>
            </a:xfrm>
            <a:prstGeom prst="line">
              <a:avLst/>
            </a:prstGeom>
            <a:noFill/>
            <a:ln w="222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3843" y="4789"/>
              <a:ext cx="4310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spc="200" dirty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cs typeface="思源黑体 CN Heavy" panose="020B0A00000000000000" charset="-122"/>
                  <a:sym typeface="+mn-ea"/>
                </a:rPr>
                <a:t>负载分析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9E4D7-1319-ACA2-C9DE-D757D5490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15AED9FF-DAA7-B999-AEE4-24F14A8AC786}"/>
              </a:ext>
            </a:extLst>
          </p:cNvPr>
          <p:cNvGrpSpPr/>
          <p:nvPr/>
        </p:nvGrpSpPr>
        <p:grpSpPr>
          <a:xfrm>
            <a:off x="-635" y="262531"/>
            <a:ext cx="12192000" cy="6345555"/>
            <a:chOff x="0" y="403"/>
            <a:chExt cx="19200" cy="9993"/>
          </a:xfrm>
          <a:effectLst>
            <a:outerShdw blurRad="254000" algn="ctr" rotWithShape="0">
              <a:prstClr val="black">
                <a:alpha val="25000"/>
              </a:prstClr>
            </a:outerShdw>
          </a:effectLst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2AF010F4-98D6-0093-F8ED-7DBE47B66260}"/>
                </a:ext>
              </a:extLst>
            </p:cNvPr>
            <p:cNvGrpSpPr/>
            <p:nvPr/>
          </p:nvGrpSpPr>
          <p:grpSpPr>
            <a:xfrm>
              <a:off x="0" y="403"/>
              <a:ext cx="18701" cy="9661"/>
              <a:chOff x="0" y="403"/>
              <a:chExt cx="18701" cy="9661"/>
            </a:xfrm>
            <a:effectLst>
              <a:outerShdw blurRad="254000" algn="ctr" rotWithShape="0">
                <a:prstClr val="black">
                  <a:alpha val="25000"/>
                </a:prstClr>
              </a:outerShdw>
            </a:effectLst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E38EBD27-B797-F28D-367A-96EF908A3C96}"/>
                  </a:ext>
                </a:extLst>
              </p:cNvPr>
              <p:cNvSpPr/>
              <p:nvPr/>
            </p:nvSpPr>
            <p:spPr>
              <a:xfrm>
                <a:off x="500" y="736"/>
                <a:ext cx="18201" cy="932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D9D9D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24F63409-7BD1-BA60-84C1-95490413B49F}"/>
                  </a:ext>
                </a:extLst>
              </p:cNvPr>
              <p:cNvSpPr/>
              <p:nvPr/>
            </p:nvSpPr>
            <p:spPr>
              <a:xfrm>
                <a:off x="0" y="403"/>
                <a:ext cx="14360" cy="367"/>
              </a:xfrm>
              <a:prstGeom prst="rect">
                <a:avLst/>
              </a:prstGeom>
              <a:solidFill>
                <a:srgbClr val="1E4E9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22382678-2ADE-C248-C768-BABF7273B681}"/>
                </a:ext>
              </a:extLst>
            </p:cNvPr>
            <p:cNvSpPr/>
            <p:nvPr/>
          </p:nvSpPr>
          <p:spPr>
            <a:xfrm>
              <a:off x="4840" y="10030"/>
              <a:ext cx="14360" cy="367"/>
            </a:xfrm>
            <a:prstGeom prst="rect">
              <a:avLst/>
            </a:prstGeom>
            <a:solidFill>
              <a:srgbClr val="1E4E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EF2CCDA0-33DB-A54F-9CA0-D4D0F48D6A1B}"/>
              </a:ext>
            </a:extLst>
          </p:cNvPr>
          <p:cNvSpPr/>
          <p:nvPr/>
        </p:nvSpPr>
        <p:spPr>
          <a:xfrm>
            <a:off x="589915" y="5916930"/>
            <a:ext cx="245110" cy="24511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AD40497-CF4B-5CC1-E56C-783DFF5FD1C4}"/>
              </a:ext>
            </a:extLst>
          </p:cNvPr>
          <p:cNvSpPr txBox="1"/>
          <p:nvPr/>
        </p:nvSpPr>
        <p:spPr>
          <a:xfrm>
            <a:off x="4359275" y="762000"/>
            <a:ext cx="3472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网站介绍</a:t>
            </a:r>
            <a:endParaRPr lang="en-US" altLang="zh-CN" sz="2800" b="1" spc="3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986C504-35FD-9F85-C4E3-BA04F3431304}"/>
              </a:ext>
            </a:extLst>
          </p:cNvPr>
          <p:cNvGrpSpPr/>
          <p:nvPr/>
        </p:nvGrpSpPr>
        <p:grpSpPr>
          <a:xfrm>
            <a:off x="840105" y="2136775"/>
            <a:ext cx="10513060" cy="754380"/>
            <a:chOff x="1279" y="3240"/>
            <a:chExt cx="16556" cy="118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D17D4C3-F76D-FD31-4010-E01518F92074}"/>
                </a:ext>
              </a:extLst>
            </p:cNvPr>
            <p:cNvSpPr/>
            <p:nvPr/>
          </p:nvSpPr>
          <p:spPr>
            <a:xfrm>
              <a:off x="1279" y="3240"/>
              <a:ext cx="6781" cy="1188"/>
            </a:xfrm>
            <a:prstGeom prst="rect">
              <a:avLst/>
            </a:prstGeom>
            <a:solidFill>
              <a:srgbClr val="1E4E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DA2A65B-E9AB-C782-5793-2A679C60178C}"/>
                </a:ext>
              </a:extLst>
            </p:cNvPr>
            <p:cNvSpPr txBox="1"/>
            <p:nvPr/>
          </p:nvSpPr>
          <p:spPr>
            <a:xfrm>
              <a:off x="8546" y="3240"/>
              <a:ext cx="9289" cy="1178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3</a:t>
              </a:r>
              <a:r>
                <a:rPr lang="zh-CN" altLang="en-US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款</a:t>
              </a:r>
              <a:r>
                <a:rPr lang="en-US" altLang="zh-CN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CPU</a:t>
              </a:r>
              <a:br>
                <a:rPr lang="en-US" altLang="zh-CN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</a:br>
              <a:r>
                <a:rPr lang="en-US" altLang="zh-CN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2</a:t>
              </a:r>
              <a:r>
                <a:rPr lang="zh-CN" altLang="en-US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个负载（</a:t>
              </a:r>
              <a:r>
                <a:rPr lang="en-US" altLang="zh-CN" sz="1600" spc="1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BenchCPU</a:t>
              </a:r>
              <a:r>
                <a:rPr lang="zh-CN" altLang="en-US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、</a:t>
              </a:r>
              <a:r>
                <a:rPr lang="en-US" altLang="zh-CN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SPEC17</a:t>
              </a:r>
              <a:r>
                <a:rPr lang="zh-CN" altLang="en-US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）</a:t>
              </a:r>
              <a:endParaRPr lang="en-US" altLang="zh-CN" sz="1600" spc="100" dirty="0" err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E8B76393-C86D-3680-56BB-9407ECE50440}"/>
                </a:ext>
              </a:extLst>
            </p:cNvPr>
            <p:cNvSpPr txBox="1"/>
            <p:nvPr/>
          </p:nvSpPr>
          <p:spPr>
            <a:xfrm>
              <a:off x="1585" y="3449"/>
              <a:ext cx="5713" cy="771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marL="342900" lvl="0" indent="-342900" algn="l">
                <a:buClrTx/>
                <a:buSzTx/>
                <a:buFont typeface="思源黑体 CN Normal" panose="020B0400000000000000" charset="-122"/>
                <a:buChar char="•"/>
              </a:pPr>
              <a:r>
                <a:rPr lang="zh-CN" altLang="en-US" sz="2000" spc="300" dirty="0">
                  <a:solidFill>
                    <a:schemeClr val="bg1"/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  <a:sym typeface="+mn-ea"/>
                </a:rPr>
                <a:t>排行榜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C3819E2-6FAF-AA81-C0F0-2C14BA3F8C0D}"/>
              </a:ext>
            </a:extLst>
          </p:cNvPr>
          <p:cNvGrpSpPr/>
          <p:nvPr/>
        </p:nvGrpSpPr>
        <p:grpSpPr>
          <a:xfrm>
            <a:off x="840105" y="3312795"/>
            <a:ext cx="10513060" cy="754380"/>
            <a:chOff x="1279" y="3240"/>
            <a:chExt cx="16556" cy="1188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1F01E74-9BFB-D7AD-B40F-CD7EB63637D3}"/>
                </a:ext>
              </a:extLst>
            </p:cNvPr>
            <p:cNvSpPr/>
            <p:nvPr/>
          </p:nvSpPr>
          <p:spPr>
            <a:xfrm>
              <a:off x="1279" y="3240"/>
              <a:ext cx="6781" cy="118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FBC75AD-DBFE-B398-9A54-8F07D65AAF59}"/>
                </a:ext>
              </a:extLst>
            </p:cNvPr>
            <p:cNvSpPr txBox="1"/>
            <p:nvPr/>
          </p:nvSpPr>
          <p:spPr>
            <a:xfrm>
              <a:off x="8546" y="3240"/>
              <a:ext cx="9289" cy="1178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评价学基础</a:t>
              </a:r>
              <a:endParaRPr lang="en-US" altLang="zh-CN" sz="1600" spc="1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  <a:p>
              <a:pPr lv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6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提交规则</a:t>
              </a:r>
              <a:endParaRPr lang="en-US" altLang="zh-CN" sz="1600" spc="100" dirty="0" err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E46C0F7-698B-2B8F-CD33-C09A41A27946}"/>
                </a:ext>
              </a:extLst>
            </p:cNvPr>
            <p:cNvSpPr txBox="1"/>
            <p:nvPr/>
          </p:nvSpPr>
          <p:spPr>
            <a:xfrm>
              <a:off x="1585" y="3458"/>
              <a:ext cx="5713" cy="771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marL="342900" lvl="0" indent="-342900" algn="l">
                <a:buClrTx/>
                <a:buSzTx/>
                <a:buFont typeface="思源黑体 CN Normal" panose="020B0400000000000000" charset="-122"/>
                <a:buChar char="•"/>
              </a:pPr>
              <a:r>
                <a:rPr lang="zh-CN" altLang="en-US" sz="20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  <a:sym typeface="+mn-ea"/>
                </a:rPr>
                <a:t>排行规则</a:t>
              </a:r>
              <a:endParaRPr lang="zh-CN" altLang="en-US" sz="2000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9811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-635" y="255905"/>
            <a:ext cx="12192000" cy="6346190"/>
            <a:chOff x="0" y="403"/>
            <a:chExt cx="19200" cy="9994"/>
          </a:xfrm>
          <a:effectLst>
            <a:outerShdw blurRad="254000" algn="ctr" rotWithShape="0">
              <a:prstClr val="black">
                <a:alpha val="25000"/>
              </a:prstClr>
            </a:outerShdw>
          </a:effectLst>
        </p:grpSpPr>
        <p:grpSp>
          <p:nvGrpSpPr>
            <p:cNvPr id="26" name="组合 25"/>
            <p:cNvGrpSpPr/>
            <p:nvPr/>
          </p:nvGrpSpPr>
          <p:grpSpPr>
            <a:xfrm>
              <a:off x="0" y="403"/>
              <a:ext cx="18701" cy="9670"/>
              <a:chOff x="0" y="403"/>
              <a:chExt cx="18701" cy="9670"/>
            </a:xfrm>
            <a:effectLst>
              <a:outerShdw blurRad="254000" algn="ctr" rotWithShape="0">
                <a:prstClr val="black">
                  <a:alpha val="25000"/>
                </a:prstClr>
              </a:outerShdw>
            </a:effectLst>
          </p:grpSpPr>
          <p:sp>
            <p:nvSpPr>
              <p:cNvPr id="32" name="矩形 31"/>
              <p:cNvSpPr/>
              <p:nvPr/>
            </p:nvSpPr>
            <p:spPr>
              <a:xfrm>
                <a:off x="500" y="745"/>
                <a:ext cx="18201" cy="932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D9D9D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0" y="403"/>
                <a:ext cx="14360" cy="367"/>
              </a:xfrm>
              <a:prstGeom prst="rect">
                <a:avLst/>
              </a:prstGeom>
              <a:solidFill>
                <a:srgbClr val="1E4E9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35" name="矩形 34"/>
            <p:cNvSpPr/>
            <p:nvPr/>
          </p:nvSpPr>
          <p:spPr>
            <a:xfrm>
              <a:off x="4840" y="10030"/>
              <a:ext cx="14360" cy="367"/>
            </a:xfrm>
            <a:prstGeom prst="rect">
              <a:avLst/>
            </a:prstGeom>
            <a:solidFill>
              <a:srgbClr val="1E4E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8" name="椭圆 7"/>
          <p:cNvSpPr/>
          <p:nvPr/>
        </p:nvSpPr>
        <p:spPr>
          <a:xfrm>
            <a:off x="589915" y="5916930"/>
            <a:ext cx="245110" cy="24511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715339" y="659895"/>
            <a:ext cx="5519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负载分析</a:t>
            </a:r>
            <a:endParaRPr lang="en-US" altLang="zh-CN" sz="2800" b="1" spc="3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12165" y="2057400"/>
            <a:ext cx="5283835" cy="3355340"/>
          </a:xfrm>
          <a:prstGeom prst="rect">
            <a:avLst/>
          </a:prstGeom>
          <a:solidFill>
            <a:srgbClr val="1E4E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0" y="2057400"/>
            <a:ext cx="5283835" cy="33553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69950" y="2124710"/>
            <a:ext cx="4510405" cy="1102360"/>
            <a:chOff x="1391" y="3346"/>
            <a:chExt cx="7103" cy="1736"/>
          </a:xfrm>
        </p:grpSpPr>
        <p:sp>
          <p:nvSpPr>
            <p:cNvPr id="23" name="文本框 22"/>
            <p:cNvSpPr txBox="1"/>
            <p:nvPr/>
          </p:nvSpPr>
          <p:spPr>
            <a:xfrm>
              <a:off x="1391" y="3346"/>
              <a:ext cx="7103" cy="771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000" spc="300" dirty="0">
                  <a:solidFill>
                    <a:schemeClr val="bg1"/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  <a:sym typeface="+mn-ea"/>
                </a:rPr>
                <a:t>平台</a:t>
              </a:r>
              <a:r>
                <a:rPr lang="en-US" altLang="zh-CN" sz="2000" spc="300" dirty="0">
                  <a:solidFill>
                    <a:schemeClr val="bg1"/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  <a:sym typeface="+mn-ea"/>
                </a:rPr>
                <a:t>——AMD EPYC 7543</a:t>
              </a:r>
              <a:endParaRPr lang="zh-CN" altLang="en-US" sz="2000" spc="300" dirty="0">
                <a:solidFill>
                  <a:schemeClr val="bg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  <a:sym typeface="+mn-ea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1897" y="5082"/>
              <a:ext cx="1269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6153785" y="2124710"/>
            <a:ext cx="1779270" cy="1102360"/>
            <a:chOff x="1391" y="3346"/>
            <a:chExt cx="2802" cy="1736"/>
          </a:xfrm>
        </p:grpSpPr>
        <p:sp>
          <p:nvSpPr>
            <p:cNvPr id="15" name="文本框 14"/>
            <p:cNvSpPr txBox="1"/>
            <p:nvPr/>
          </p:nvSpPr>
          <p:spPr>
            <a:xfrm>
              <a:off x="1391" y="3346"/>
              <a:ext cx="2802" cy="771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00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  <a:sym typeface="+mn-ea"/>
                </a:rPr>
                <a:t>指标</a:t>
              </a: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1897" y="5082"/>
              <a:ext cx="1269" cy="0"/>
            </a:xfrm>
            <a:prstGeom prst="line">
              <a:avLst/>
            </a:prstGeom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AF36A68-E780-15F6-AF93-3F7DA39ABB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835757"/>
              </p:ext>
            </p:extLst>
          </p:nvPr>
        </p:nvGraphicFramePr>
        <p:xfrm>
          <a:off x="812165" y="2681605"/>
          <a:ext cx="5260975" cy="27251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1584">
                  <a:extLst>
                    <a:ext uri="{9D8B030D-6E8A-4147-A177-3AD203B41FA5}">
                      <a16:colId xmlns:a16="http://schemas.microsoft.com/office/drawing/2014/main" val="1744950620"/>
                    </a:ext>
                  </a:extLst>
                </a:gridCol>
                <a:gridCol w="3909391">
                  <a:extLst>
                    <a:ext uri="{9D8B030D-6E8A-4147-A177-3AD203B41FA5}">
                      <a16:colId xmlns:a16="http://schemas.microsoft.com/office/drawing/2014/main" val="143491721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 dirty="0">
                          <a:effectLst/>
                        </a:rPr>
                        <a:t>CPU拓扑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 dirty="0">
                          <a:effectLst/>
                        </a:rPr>
                        <a:t>2 sockets, 64 cores, 128 threads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9655984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Frequency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 dirty="0">
                          <a:effectLst/>
                        </a:rPr>
                        <a:t>max 3.739 GHz, min 1.5 GHz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74738102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Memory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503 GiB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89533999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 dirty="0">
                          <a:effectLst/>
                        </a:rPr>
                        <a:t>L1 Cache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L1i 2 MiB（64实例）, L1d 2 MiB（64实例）≈ 每核 32 KiB I / 32 KiB D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4661675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L2 Cache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32 MiB（64实例）≈ 每核 512 KiB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05670496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L3 Cache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512 MiB（16实例）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08051605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Compiler and Flags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 dirty="0">
                          <a:effectLst/>
                        </a:rPr>
                        <a:t>GCC 11.4.0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8256968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OS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Ubuntu 22.04.5 LTS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83028306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Kernel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 dirty="0">
                          <a:effectLst/>
                        </a:rPr>
                        <a:t>5.15.0-179-generic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739307897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9556FB7-6B13-71D0-40F9-A1C16CEAE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684891"/>
              </p:ext>
            </p:extLst>
          </p:nvPr>
        </p:nvGraphicFramePr>
        <p:xfrm>
          <a:off x="6115878" y="2681605"/>
          <a:ext cx="5241097" cy="247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2660">
                  <a:extLst>
                    <a:ext uri="{9D8B030D-6E8A-4147-A177-3AD203B41FA5}">
                      <a16:colId xmlns:a16="http://schemas.microsoft.com/office/drawing/2014/main" val="752542892"/>
                    </a:ext>
                  </a:extLst>
                </a:gridCol>
                <a:gridCol w="4078437">
                  <a:extLst>
                    <a:ext uri="{9D8B030D-6E8A-4147-A177-3AD203B41FA5}">
                      <a16:colId xmlns:a16="http://schemas.microsoft.com/office/drawing/2014/main" val="3488174867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</a:t>
                      </a:r>
                      <a:endParaRPr lang="zh-CN" alt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Elapsed time</a:t>
                      </a:r>
                      <a:endParaRPr lang="zh-CN" alt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01493637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 dirty="0">
                          <a:effectLst/>
                        </a:rPr>
                        <a:t>Core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 dirty="0">
                          <a:effectLst/>
                        </a:rPr>
                        <a:t>IPC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1852619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 dirty="0">
                          <a:effectLst/>
                        </a:rPr>
                        <a:t>Cache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L1I_MPKI、L1D_MPKI、L2_MPKI、L3_MPKI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12891661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Branch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Branch_MPKI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8419529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Pipeline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Frontend_%、Backend_%、Lost_%、Retiring_%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4560898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Inst Mix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 dirty="0">
                          <a:effectLst/>
                        </a:rPr>
                        <a:t>Kernel_%、User_%、Load_%、Store_%、Branch_%、FP_%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10269849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>
                          <a:effectLst/>
                        </a:rPr>
                        <a:t>DRAM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u="none" strike="noStrike" dirty="0">
                          <a:effectLst/>
                        </a:rPr>
                        <a:t>Mem_access_bytes_per_cycle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1833057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0B67A8E6-ED9C-A28B-1F25-FCD798EB93F2}"/>
              </a:ext>
            </a:extLst>
          </p:cNvPr>
          <p:cNvSpPr txBox="1"/>
          <p:nvPr/>
        </p:nvSpPr>
        <p:spPr>
          <a:xfrm>
            <a:off x="6095682" y="5380838"/>
            <a:ext cx="53066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Li, R., Jacob, A., </a:t>
            </a:r>
            <a:r>
              <a:rPr lang="en-US" altLang="zh-CN" sz="1400" dirty="0" err="1"/>
              <a:t>Yadwadkar</a:t>
            </a:r>
            <a:r>
              <a:rPr lang="en-US" altLang="zh-CN" sz="1400" dirty="0"/>
              <a:t>, N. J., &amp; John, L. K. (2026). SPEC CPU2026: Characterization, Representativeness, and Cross-Suite Comparison. arXiv:2605.03713.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C72ED28-07C4-7573-0FCB-8182A813F57C}"/>
              </a:ext>
            </a:extLst>
          </p:cNvPr>
          <p:cNvSpPr txBox="1"/>
          <p:nvPr/>
        </p:nvSpPr>
        <p:spPr>
          <a:xfrm>
            <a:off x="4738686" y="1169345"/>
            <a:ext cx="3472815" cy="36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BenchCPU、SPEC26</a:t>
            </a:r>
          </a:p>
        </p:txBody>
      </p:sp>
    </p:spTree>
    <p:extLst>
      <p:ext uri="{BB962C8B-B14F-4D97-AF65-F5344CB8AC3E}">
        <p14:creationId xmlns:p14="http://schemas.microsoft.com/office/powerpoint/2010/main" val="4130230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8477F-7972-0684-34F8-209549170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9C8FD3F8-3826-ED8B-AC8A-3D5D58630FBF}"/>
              </a:ext>
            </a:extLst>
          </p:cNvPr>
          <p:cNvGrpSpPr/>
          <p:nvPr/>
        </p:nvGrpSpPr>
        <p:grpSpPr>
          <a:xfrm>
            <a:off x="-635" y="255905"/>
            <a:ext cx="12192000" cy="6345555"/>
            <a:chOff x="0" y="403"/>
            <a:chExt cx="19200" cy="9993"/>
          </a:xfrm>
          <a:effectLst>
            <a:outerShdw blurRad="254000" algn="ctr" rotWithShape="0">
              <a:prstClr val="black">
                <a:alpha val="25000"/>
              </a:prstClr>
            </a:outerShdw>
          </a:effectLst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ED428AE1-A623-FE40-7204-26EE1FA1B59B}"/>
                </a:ext>
              </a:extLst>
            </p:cNvPr>
            <p:cNvGrpSpPr/>
            <p:nvPr/>
          </p:nvGrpSpPr>
          <p:grpSpPr>
            <a:xfrm>
              <a:off x="0" y="403"/>
              <a:ext cx="18701" cy="9661"/>
              <a:chOff x="0" y="403"/>
              <a:chExt cx="18701" cy="9661"/>
            </a:xfrm>
            <a:effectLst>
              <a:outerShdw blurRad="254000" algn="ctr" rotWithShape="0">
                <a:prstClr val="black">
                  <a:alpha val="25000"/>
                </a:prstClr>
              </a:outerShdw>
            </a:effectLst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74237549-675D-40A2-452F-289810787B96}"/>
                  </a:ext>
                </a:extLst>
              </p:cNvPr>
              <p:cNvSpPr/>
              <p:nvPr/>
            </p:nvSpPr>
            <p:spPr>
              <a:xfrm>
                <a:off x="500" y="736"/>
                <a:ext cx="18201" cy="932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D9D9D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04D988AE-1AC7-C8F1-F7E4-32D2AB2532C6}"/>
                  </a:ext>
                </a:extLst>
              </p:cNvPr>
              <p:cNvSpPr/>
              <p:nvPr/>
            </p:nvSpPr>
            <p:spPr>
              <a:xfrm>
                <a:off x="0" y="403"/>
                <a:ext cx="14360" cy="367"/>
              </a:xfrm>
              <a:prstGeom prst="rect">
                <a:avLst/>
              </a:prstGeom>
              <a:solidFill>
                <a:srgbClr val="1E4E9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AC46230-9482-C060-436E-A3903277C078}"/>
                </a:ext>
              </a:extLst>
            </p:cNvPr>
            <p:cNvSpPr/>
            <p:nvPr/>
          </p:nvSpPr>
          <p:spPr>
            <a:xfrm>
              <a:off x="4840" y="10030"/>
              <a:ext cx="14360" cy="367"/>
            </a:xfrm>
            <a:prstGeom prst="rect">
              <a:avLst/>
            </a:prstGeom>
            <a:solidFill>
              <a:srgbClr val="1E4E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1EFE6FFE-7BD2-4E97-6F4D-60AC4CBB56EF}"/>
              </a:ext>
            </a:extLst>
          </p:cNvPr>
          <p:cNvSpPr/>
          <p:nvPr/>
        </p:nvSpPr>
        <p:spPr>
          <a:xfrm>
            <a:off x="589915" y="5916930"/>
            <a:ext cx="245110" cy="24511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A64B979-0F46-300B-6AA2-F6D6279F0850}"/>
              </a:ext>
            </a:extLst>
          </p:cNvPr>
          <p:cNvSpPr txBox="1"/>
          <p:nvPr/>
        </p:nvSpPr>
        <p:spPr>
          <a:xfrm>
            <a:off x="3333432" y="512772"/>
            <a:ext cx="5165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300" dirty="0" err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BenchCPU</a:t>
            </a:r>
            <a:r>
              <a:rPr lang="en-US" altLang="zh-CN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——</a:t>
            </a: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运行时间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A61BB54-1BA4-7E7D-F372-1A637BEE8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209507"/>
              </p:ext>
            </p:extLst>
          </p:nvPr>
        </p:nvGraphicFramePr>
        <p:xfrm>
          <a:off x="2930395" y="2633275"/>
          <a:ext cx="6178810" cy="1399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4309">
                  <a:extLst>
                    <a:ext uri="{9D8B030D-6E8A-4147-A177-3AD203B41FA5}">
                      <a16:colId xmlns:a16="http://schemas.microsoft.com/office/drawing/2014/main" val="1151944164"/>
                    </a:ext>
                  </a:extLst>
                </a:gridCol>
                <a:gridCol w="1468232">
                  <a:extLst>
                    <a:ext uri="{9D8B030D-6E8A-4147-A177-3AD203B41FA5}">
                      <a16:colId xmlns:a16="http://schemas.microsoft.com/office/drawing/2014/main" val="3297792337"/>
                    </a:ext>
                  </a:extLst>
                </a:gridCol>
                <a:gridCol w="2406269">
                  <a:extLst>
                    <a:ext uri="{9D8B030D-6E8A-4147-A177-3AD203B41FA5}">
                      <a16:colId xmlns:a16="http://schemas.microsoft.com/office/drawing/2014/main" val="68381954"/>
                    </a:ext>
                  </a:extLst>
                </a:gridCol>
              </a:tblGrid>
              <a:tr h="349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800" u="none" strike="noStrike" dirty="0">
                          <a:effectLst/>
                        </a:rPr>
                        <a:t>CPU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800" u="none" strike="noStrike">
                          <a:effectLst/>
                        </a:rPr>
                        <a:t>总耗时（天）</a:t>
                      </a:r>
                      <a:endParaRPr 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800" u="none" strike="noStrike">
                          <a:effectLst/>
                        </a:rPr>
                        <a:t>平均每轮耗时（小时）</a:t>
                      </a:r>
                      <a:endParaRPr 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03011160"/>
                  </a:ext>
                </a:extLst>
              </a:tr>
              <a:tr h="349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800" u="none" strike="noStrike">
                          <a:effectLst/>
                        </a:rPr>
                        <a:t>Intel Xeon Gold 5120T</a:t>
                      </a:r>
                      <a:endParaRPr 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1800" u="none" strike="noStrike">
                          <a:effectLst/>
                        </a:rPr>
                        <a:t>13.70 </a:t>
                      </a:r>
                      <a:endParaRPr 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1800" u="none" strike="noStrike">
                          <a:effectLst/>
                        </a:rPr>
                        <a:t>20.55 </a:t>
                      </a:r>
                      <a:endParaRPr 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4594767"/>
                  </a:ext>
                </a:extLst>
              </a:tr>
              <a:tr h="349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800" u="none" strike="noStrike">
                          <a:effectLst/>
                        </a:rPr>
                        <a:t>Kunpeng 920</a:t>
                      </a:r>
                      <a:endParaRPr 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1800" u="none" strike="noStrike">
                          <a:effectLst/>
                        </a:rPr>
                        <a:t>19.04 </a:t>
                      </a:r>
                      <a:endParaRPr 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1800" u="none" strike="noStrike">
                          <a:effectLst/>
                        </a:rPr>
                        <a:t>28.55 </a:t>
                      </a:r>
                      <a:endParaRPr 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300061035"/>
                  </a:ext>
                </a:extLst>
              </a:tr>
              <a:tr h="349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800" u="none" strike="noStrike" dirty="0">
                          <a:effectLst/>
                        </a:rPr>
                        <a:t>AMD EPYC 7543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1800" u="none" strike="noStrike">
                          <a:effectLst/>
                        </a:rPr>
                        <a:t>5.29 </a:t>
                      </a:r>
                      <a:endParaRPr 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1800" u="none" strike="noStrike" dirty="0">
                          <a:effectLst/>
                        </a:rPr>
                        <a:t>7.93 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1529182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8748ADB-65E4-CC7A-38F9-7A2AA1B30BEF}"/>
              </a:ext>
            </a:extLst>
          </p:cNvPr>
          <p:cNvSpPr/>
          <p:nvPr/>
        </p:nvSpPr>
        <p:spPr>
          <a:xfrm>
            <a:off x="3675464" y="2021710"/>
            <a:ext cx="45759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Tx/>
              <a:buSzTx/>
              <a:buFontTx/>
            </a:pPr>
            <a:r>
              <a:rPr lang="en-US" altLang="zh-CN" sz="2000" spc="300" dirty="0">
                <a:solidFill>
                  <a:srgbClr val="1E4E92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  <a:sym typeface="+mn-ea"/>
              </a:rPr>
              <a:t>54</a:t>
            </a:r>
            <a:r>
              <a:rPr lang="zh-CN" altLang="en-US" sz="2000" spc="300" dirty="0">
                <a:solidFill>
                  <a:srgbClr val="1E4E92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  <a:sym typeface="+mn-ea"/>
              </a:rPr>
              <a:t>个负载，</a:t>
            </a:r>
            <a:r>
              <a:rPr lang="en-US" altLang="zh-CN" sz="2000" spc="300" dirty="0">
                <a:solidFill>
                  <a:srgbClr val="1E4E92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  <a:sym typeface="+mn-ea"/>
              </a:rPr>
              <a:t>16</a:t>
            </a:r>
            <a:r>
              <a:rPr lang="zh-CN" altLang="en-US" sz="2000" spc="300" dirty="0">
                <a:solidFill>
                  <a:srgbClr val="1E4E92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  <a:sym typeface="+mn-ea"/>
              </a:rPr>
              <a:t>轮随机参数运行</a:t>
            </a:r>
            <a:endParaRPr lang="en-US" altLang="zh-CN" sz="2000" spc="300" dirty="0">
              <a:solidFill>
                <a:srgbClr val="1E4E92"/>
              </a:solidFill>
              <a:uFillTx/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0277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7C0A1-E959-AAD6-482D-312186DD5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C93EDE68-4738-E6C2-B238-D1C8C117324D}"/>
              </a:ext>
            </a:extLst>
          </p:cNvPr>
          <p:cNvGrpSpPr/>
          <p:nvPr/>
        </p:nvGrpSpPr>
        <p:grpSpPr>
          <a:xfrm>
            <a:off x="-635" y="255905"/>
            <a:ext cx="12192000" cy="6345555"/>
            <a:chOff x="0" y="403"/>
            <a:chExt cx="19200" cy="9993"/>
          </a:xfrm>
          <a:effectLst>
            <a:outerShdw blurRad="254000" algn="ctr" rotWithShape="0">
              <a:prstClr val="black">
                <a:alpha val="25000"/>
              </a:prstClr>
            </a:outerShdw>
          </a:effectLst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827820D7-0479-BEA2-FE66-E3ED8285568A}"/>
                </a:ext>
              </a:extLst>
            </p:cNvPr>
            <p:cNvGrpSpPr/>
            <p:nvPr/>
          </p:nvGrpSpPr>
          <p:grpSpPr>
            <a:xfrm>
              <a:off x="0" y="403"/>
              <a:ext cx="18701" cy="9661"/>
              <a:chOff x="0" y="403"/>
              <a:chExt cx="18701" cy="9661"/>
            </a:xfrm>
            <a:effectLst>
              <a:outerShdw blurRad="254000" algn="ctr" rotWithShape="0">
                <a:prstClr val="black">
                  <a:alpha val="25000"/>
                </a:prstClr>
              </a:outerShdw>
            </a:effectLst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274CA635-5E5C-4BD0-8ED9-A23EEE9F2B6E}"/>
                  </a:ext>
                </a:extLst>
              </p:cNvPr>
              <p:cNvSpPr/>
              <p:nvPr/>
            </p:nvSpPr>
            <p:spPr>
              <a:xfrm>
                <a:off x="500" y="736"/>
                <a:ext cx="18201" cy="932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D9D9D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604A888E-28D1-3BD8-8969-1D5BAFDA5D67}"/>
                  </a:ext>
                </a:extLst>
              </p:cNvPr>
              <p:cNvSpPr/>
              <p:nvPr/>
            </p:nvSpPr>
            <p:spPr>
              <a:xfrm>
                <a:off x="0" y="403"/>
                <a:ext cx="14360" cy="367"/>
              </a:xfrm>
              <a:prstGeom prst="rect">
                <a:avLst/>
              </a:prstGeom>
              <a:solidFill>
                <a:srgbClr val="1E4E9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94F7B25-0F16-DC8A-B477-FA80B83F6A05}"/>
                </a:ext>
              </a:extLst>
            </p:cNvPr>
            <p:cNvSpPr/>
            <p:nvPr/>
          </p:nvSpPr>
          <p:spPr>
            <a:xfrm>
              <a:off x="4840" y="10030"/>
              <a:ext cx="14360" cy="367"/>
            </a:xfrm>
            <a:prstGeom prst="rect">
              <a:avLst/>
            </a:prstGeom>
            <a:solidFill>
              <a:srgbClr val="1E4E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1249FD8F-B125-9D0E-6602-A5E63B181FE1}"/>
              </a:ext>
            </a:extLst>
          </p:cNvPr>
          <p:cNvSpPr/>
          <p:nvPr/>
        </p:nvSpPr>
        <p:spPr>
          <a:xfrm>
            <a:off x="589915" y="5916930"/>
            <a:ext cx="245110" cy="24511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BECEC81-734B-B087-424E-00BB9F8640B8}"/>
              </a:ext>
            </a:extLst>
          </p:cNvPr>
          <p:cNvSpPr txBox="1"/>
          <p:nvPr/>
        </p:nvSpPr>
        <p:spPr>
          <a:xfrm>
            <a:off x="3333432" y="512772"/>
            <a:ext cx="5165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300" dirty="0" err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BenchCPU</a:t>
            </a:r>
            <a:r>
              <a:rPr lang="en-US" altLang="zh-CN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——</a:t>
            </a: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运行时间</a:t>
            </a:r>
          </a:p>
        </p:txBody>
      </p:sp>
      <p:graphicFrame>
        <p:nvGraphicFramePr>
          <p:cNvPr id="3" name="内容占位符 8">
            <a:extLst>
              <a:ext uri="{FF2B5EF4-FFF2-40B4-BE49-F238E27FC236}">
                <a16:creationId xmlns:a16="http://schemas.microsoft.com/office/drawing/2014/main" id="{3901145B-6DDC-BCC9-D3CD-35EA201E0C74}"/>
              </a:ext>
            </a:extLst>
          </p:cNvPr>
          <p:cNvGraphicFramePr>
            <a:graphicFrameLocks/>
          </p:cNvGraphicFramePr>
          <p:nvPr/>
        </p:nvGraphicFramePr>
        <p:xfrm>
          <a:off x="359229" y="1130269"/>
          <a:ext cx="11424557" cy="4505564"/>
        </p:xfrm>
        <a:graphic>
          <a:graphicData uri="http://schemas.openxmlformats.org/drawingml/2006/table">
            <a:tbl>
              <a:tblPr/>
              <a:tblGrid>
                <a:gridCol w="1920686">
                  <a:extLst>
                    <a:ext uri="{9D8B030D-6E8A-4147-A177-3AD203B41FA5}">
                      <a16:colId xmlns:a16="http://schemas.microsoft.com/office/drawing/2014/main" val="372209664"/>
                    </a:ext>
                  </a:extLst>
                </a:gridCol>
                <a:gridCol w="1086867">
                  <a:extLst>
                    <a:ext uri="{9D8B030D-6E8A-4147-A177-3AD203B41FA5}">
                      <a16:colId xmlns:a16="http://schemas.microsoft.com/office/drawing/2014/main" val="1029171398"/>
                    </a:ext>
                  </a:extLst>
                </a:gridCol>
                <a:gridCol w="1211319">
                  <a:extLst>
                    <a:ext uri="{9D8B030D-6E8A-4147-A177-3AD203B41FA5}">
                      <a16:colId xmlns:a16="http://schemas.microsoft.com/office/drawing/2014/main" val="3764378578"/>
                    </a:ext>
                  </a:extLst>
                </a:gridCol>
                <a:gridCol w="3278492">
                  <a:extLst>
                    <a:ext uri="{9D8B030D-6E8A-4147-A177-3AD203B41FA5}">
                      <a16:colId xmlns:a16="http://schemas.microsoft.com/office/drawing/2014/main" val="4224357918"/>
                    </a:ext>
                  </a:extLst>
                </a:gridCol>
                <a:gridCol w="3927193">
                  <a:extLst>
                    <a:ext uri="{9D8B030D-6E8A-4147-A177-3AD203B41FA5}">
                      <a16:colId xmlns:a16="http://schemas.microsoft.com/office/drawing/2014/main" val="443083600"/>
                    </a:ext>
                  </a:extLst>
                </a:gridCol>
              </a:tblGrid>
              <a:tr h="1323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负载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时间CV</a:t>
                      </a:r>
                      <a:endParaRPr 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</a:rPr>
                        <a:t>时间</a:t>
                      </a:r>
                      <a:r>
                        <a:rPr lang="zh-CN" altLang="en-US" sz="1400" u="none" strike="noStrike" dirty="0">
                          <a:effectLst/>
                        </a:rPr>
                        <a:t>（秒）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参数和运行时间相关系数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说明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063557"/>
                  </a:ext>
                </a:extLst>
              </a:tr>
              <a:tr h="396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kafka_benchmark/kafka_producer_perf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1.95 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</a:rPr>
                        <a:t>25-729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</a:rPr>
                        <a:t>threads_corr=-0.58; num-records_corr=-0.15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threads范围1-57且含极低并发，producer并行度下降会直接拉低吞吐；num-records范围777777777-1400000000变化次要（threads_corr=-0.58; num-records_corr=-0.15）。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391780"/>
                  </a:ext>
                </a:extLst>
              </a:tr>
              <a:tr h="396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lapack_benchmark/lapack_solve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1.01 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</a:rPr>
                        <a:t>42-749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</a:rPr>
                        <a:t>threads_corr=0.48; size_corr=0.75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主要受数据规模驱动：size范围1024-2048改变计算量与内存访问量，导致elapsed显著变化（threads_corr=0.48; size_corr=0.75）。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238704"/>
                  </a:ext>
                </a:extLst>
              </a:tr>
              <a:tr h="396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</a:rPr>
                        <a:t>lapack_benchmark/lapack_eigen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0.88 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</a:rPr>
                        <a:t>75-2323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threads_corr=0.65; size_corr=0.69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线程与数据规模共同作用：threads范围6-58与size范围1024-2048同时变化，叠加并行效率和任务量变化（threads_corr=0.65; size_corr=0.69）。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885650"/>
                  </a:ext>
                </a:extLst>
              </a:tr>
              <a:tr h="396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</a:rPr>
                        <a:t>cassandra_benchmark/cassandra_stress_read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0.85 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</a:rPr>
                        <a:t>83-692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threads_corr=-0.62; read-n_corr=0.12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</a:rPr>
                        <a:t>数据库读压测对并发敏感，threads范围2-57导致队列/调度与缓存命中状态变化；read-n范围1000000-2000000影响相对次要（threads_corr=-0.62; read-n_corr=0.12）。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729775"/>
                  </a:ext>
                </a:extLst>
              </a:tr>
              <a:tr h="396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opencv_benchmark/optical_flow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0.83 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</a:rPr>
                        <a:t>199-1391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threads_corr=0.56; size_corr=0.78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主要受数据规模驱动：size范围568-1024改变计算量与内存访问量，导致elapsed显著变化（threads_corr=0.56; size_corr=0.78）。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912821"/>
                  </a:ext>
                </a:extLst>
              </a:tr>
              <a:tr h="396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transformer_inference/transformer_inference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0.80 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</a:rPr>
                        <a:t>50.6-496.4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</a:rPr>
                        <a:t>threads_corr=-0.77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宋体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</a:rPr>
                        <a:t>主要受并发度变化驱动：threads范围2-60较大，改变并行效率与资源争用，从而放大elapsed波动（threads_corr=-0.77）。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572" marR="3572" marT="3572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97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946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44EF6-89F4-7305-532C-442F0E5D9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30956E9-DC38-E3DE-963C-B76B1A7AE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057" y="-7320"/>
            <a:ext cx="8577308" cy="65691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BE24A63-DFD8-4022-0F5B-448EE89625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045" y="0"/>
            <a:ext cx="8646320" cy="6858000"/>
          </a:xfrm>
          <a:prstGeom prst="rect">
            <a:avLst/>
          </a:prstGeom>
        </p:spPr>
      </p:pic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A1D8D859-9B1E-69BE-1CC4-0F5ED5C518CF}"/>
              </a:ext>
            </a:extLst>
          </p:cNvPr>
          <p:cNvSpPr txBox="1">
            <a:spLocks/>
          </p:cNvSpPr>
          <p:nvPr/>
        </p:nvSpPr>
        <p:spPr bwMode="auto">
          <a:xfrm>
            <a:off x="457200" y="1149549"/>
            <a:ext cx="3374571" cy="1156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Wingdings" pitchFamily="2" charset="2"/>
              <a:buChar char="n"/>
              <a:tabLst/>
              <a:defRPr/>
            </a:pPr>
            <a:r>
              <a:rPr kumimoji="1" lang="zh-CN" altLang="en-US" sz="1800" kern="0" dirty="0">
                <a:solidFill>
                  <a:srgbClr val="000000"/>
                </a:solidFill>
                <a:latin typeface="Calibri"/>
                <a:ea typeface="宋体"/>
              </a:rPr>
              <a:t>数据处理</a:t>
            </a:r>
            <a:endParaRPr kumimoji="1" lang="en-US" altLang="zh-CN" sz="1800" kern="0" dirty="0">
              <a:solidFill>
                <a:srgbClr val="000000"/>
              </a:solidFill>
              <a:latin typeface="Calibri"/>
              <a:ea typeface="宋体"/>
            </a:endParaRPr>
          </a:p>
          <a:p>
            <a:pPr lvl="1" indent="-342900">
              <a:buClr>
                <a:srgbClr val="0070C0"/>
              </a:buClr>
              <a:buSzPct val="80000"/>
            </a:pPr>
            <a:r>
              <a:rPr kumimoji="1" lang="en-US" altLang="zh-CN" sz="1400" kern="0" dirty="0">
                <a:solidFill>
                  <a:srgbClr val="000000"/>
                </a:solidFill>
                <a:latin typeface="Calibri"/>
                <a:ea typeface="宋体"/>
              </a:rPr>
              <a:t>Z-score</a:t>
            </a:r>
            <a:r>
              <a:rPr kumimoji="1" lang="zh-CN" altLang="en-US" sz="1400" kern="0" dirty="0">
                <a:solidFill>
                  <a:srgbClr val="000000"/>
                </a:solidFill>
                <a:latin typeface="Calibri"/>
                <a:ea typeface="宋体"/>
              </a:rPr>
              <a:t>归一化</a:t>
            </a:r>
          </a:p>
          <a:p>
            <a:pPr lvl="1" indent="-342900">
              <a:buClr>
                <a:srgbClr val="0070C0"/>
              </a:buClr>
              <a:buSzPct val="80000"/>
            </a:pPr>
            <a:r>
              <a:rPr kumimoji="1" lang="en-US" altLang="zh-CN" sz="1400" kern="0" dirty="0">
                <a:solidFill>
                  <a:srgbClr val="000000"/>
                </a:solidFill>
                <a:latin typeface="Calibri"/>
                <a:ea typeface="宋体"/>
              </a:rPr>
              <a:t>PCA</a:t>
            </a:r>
          </a:p>
          <a:p>
            <a:pPr lvl="1" indent="-342900">
              <a:buClr>
                <a:srgbClr val="0070C0"/>
              </a:buClr>
              <a:buSzPct val="80000"/>
            </a:pPr>
            <a:r>
              <a:rPr kumimoji="1" lang="zh-CN" altLang="en-US" sz="1400" kern="0" dirty="0">
                <a:solidFill>
                  <a:srgbClr val="000000"/>
                </a:solidFill>
                <a:latin typeface="Calibri"/>
                <a:ea typeface="宋体"/>
              </a:rPr>
              <a:t>前</a:t>
            </a:r>
            <a:r>
              <a:rPr kumimoji="1" lang="en-US" altLang="zh-CN" sz="1400" kern="0" dirty="0">
                <a:solidFill>
                  <a:srgbClr val="000000"/>
                </a:solidFill>
                <a:latin typeface="Calibri"/>
                <a:ea typeface="宋体"/>
              </a:rPr>
              <a:t>8</a:t>
            </a:r>
            <a:r>
              <a:rPr kumimoji="1" lang="zh-CN" altLang="en-US" sz="1400" kern="0" dirty="0">
                <a:solidFill>
                  <a:srgbClr val="000000"/>
                </a:solidFill>
                <a:latin typeface="Calibri"/>
                <a:ea typeface="宋体"/>
              </a:rPr>
              <a:t>维绘图分析（</a:t>
            </a:r>
            <a:r>
              <a:rPr kumimoji="1" lang="en-US" altLang="zh-CN" sz="1400" kern="0" dirty="0">
                <a:solidFill>
                  <a:srgbClr val="000000"/>
                </a:solidFill>
                <a:latin typeface="Calibri"/>
                <a:ea typeface="宋体"/>
              </a:rPr>
              <a:t>90%</a:t>
            </a:r>
            <a:r>
              <a:rPr kumimoji="1" lang="zh-CN" altLang="en-US" sz="1400" kern="0" dirty="0">
                <a:solidFill>
                  <a:srgbClr val="000000"/>
                </a:solidFill>
                <a:latin typeface="Calibri"/>
                <a:ea typeface="宋体"/>
              </a:rPr>
              <a:t>方差）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宋体"/>
              <a:cs typeface="+mn-cs"/>
              <a:sym typeface="Calibri" pitchFamily="34" charset="0"/>
            </a:endParaRPr>
          </a:p>
          <a:p>
            <a:pPr lvl="1" indent="-342900">
              <a:buClr>
                <a:srgbClr val="0070C0"/>
              </a:buClr>
              <a:buSzPct val="80000"/>
            </a:pPr>
            <a:endParaRPr kumimoji="1" lang="en-US" altLang="zh-CN" sz="1400" kern="0" dirty="0">
              <a:solidFill>
                <a:srgbClr val="000000"/>
              </a:solidFill>
              <a:latin typeface="Calibri"/>
              <a:ea typeface="宋体"/>
            </a:endParaRPr>
          </a:p>
          <a:p>
            <a:pPr lvl="1" indent="-342900">
              <a:buClr>
                <a:srgbClr val="0070C0"/>
              </a:buClr>
              <a:buSzPct val="80000"/>
            </a:pPr>
            <a:endParaRPr kumimoji="1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宋体"/>
              <a:cs typeface="+mn-cs"/>
              <a:sym typeface="Calibri" pitchFamily="34" charset="0"/>
            </a:endParaRPr>
          </a:p>
          <a:p>
            <a:pPr lvl="1" indent="-342900">
              <a:buClr>
                <a:srgbClr val="0070C0"/>
              </a:buClr>
              <a:buSzPct val="80000"/>
            </a:pPr>
            <a:endParaRPr kumimoji="1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宋体"/>
              <a:cs typeface="+mn-cs"/>
              <a:sym typeface="Calibri" pitchFamily="34" charset="0"/>
            </a:endParaRPr>
          </a:p>
          <a:p>
            <a:pPr lvl="1" indent="-342900">
              <a:buClr>
                <a:srgbClr val="0070C0"/>
              </a:buClr>
              <a:buSzPct val="80000"/>
            </a:pPr>
            <a:endParaRPr kumimoji="1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宋体"/>
              <a:cs typeface="+mn-cs"/>
              <a:sym typeface="Calibri" pitchFamily="34" charset="0"/>
            </a:endParaRP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DF7467A9-D09E-429F-86C9-7C111D16D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166677"/>
              </p:ext>
            </p:extLst>
          </p:nvPr>
        </p:nvGraphicFramePr>
        <p:xfrm>
          <a:off x="287495" y="2412682"/>
          <a:ext cx="3257550" cy="3504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1064">
                  <a:extLst>
                    <a:ext uri="{9D8B030D-6E8A-4147-A177-3AD203B41FA5}">
                      <a16:colId xmlns:a16="http://schemas.microsoft.com/office/drawing/2014/main" val="379974768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3051962"/>
                    </a:ext>
                  </a:extLst>
                </a:gridCol>
                <a:gridCol w="2449286">
                  <a:extLst>
                    <a:ext uri="{9D8B030D-6E8A-4147-A177-3AD203B41FA5}">
                      <a16:colId xmlns:a16="http://schemas.microsoft.com/office/drawing/2014/main" val="1962450017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PC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 dirty="0">
                          <a:effectLst/>
                        </a:rPr>
                        <a:t>W%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Top4_metrics_(mean_loading)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29930524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PC1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31.19 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Branch_MPKI (+0.36), Retiring_% (-0.34), Lost_% (+0.29), Store_% (+0.27)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8098897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PC2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16.53 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L1D_MPKI (+0.48), FP_% (+0.39), Branch_% (-0.33), L2_MPKI (+0.30)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690897015"/>
                  </a:ext>
                </a:extLst>
              </a:tr>
              <a:tr h="5289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PC3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14.48 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Kernel_% (+0.42), User_% (-0.42), Mem_access_bytes_per_cycle (-0.32), L3_MPKI (-0.27)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81562855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PC4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8.00 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Load_% (+0.66), Lost_% (+0.33), L1I_MPKI (-0.25), User_% (+0.24)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56299927"/>
                  </a:ext>
                </a:extLst>
              </a:tr>
              <a:tr h="5289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PC5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6.37 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IPC (+0.62), Frontend_% (+0.44), Mem_access_bytes_per_cycle (+0.39), Lost_% (+0.30)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32131874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PC6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5.87 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 dirty="0">
                          <a:effectLst/>
                        </a:rPr>
                        <a:t>Backend_% (+0.48), Frontend_% (+0.45), Branch_MPKI (-0.32), L1I_MPKI (+0.30)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009117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PC7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4.31 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Backend_% (+0.43), User_% (+0.39), Kernel_% (-0.39), Retiring_% (-0.38)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654996986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>
                          <a:effectLst/>
                        </a:rPr>
                        <a:t>PC8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 dirty="0">
                          <a:effectLst/>
                        </a:rPr>
                        <a:t>3.90 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100" u="none" strike="noStrike" dirty="0">
                          <a:effectLst/>
                        </a:rPr>
                        <a:t>Frontend_% (+0.63), L1I_MPKI (-0.52), IPC (-0.39), Store_% (-0.23)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581103860"/>
                  </a:ext>
                </a:extLst>
              </a:tr>
            </a:tbl>
          </a:graphicData>
        </a:graphic>
      </p:graphicFrame>
      <p:sp>
        <p:nvSpPr>
          <p:cNvPr id="40" name="文本框 39">
            <a:extLst>
              <a:ext uri="{FF2B5EF4-FFF2-40B4-BE49-F238E27FC236}">
                <a16:creationId xmlns:a16="http://schemas.microsoft.com/office/drawing/2014/main" id="{BCB953DA-3AFB-9926-0935-3DF172401851}"/>
              </a:ext>
            </a:extLst>
          </p:cNvPr>
          <p:cNvSpPr txBox="1"/>
          <p:nvPr/>
        </p:nvSpPr>
        <p:spPr>
          <a:xfrm>
            <a:off x="0" y="417467"/>
            <a:ext cx="5165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BenchCPU</a:t>
            </a:r>
            <a:r>
              <a:rPr lang="en-US" altLang="zh-CN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 vs SPEC26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7467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592F7-560A-F016-B38C-620A55762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09A774A-99AB-0F88-C219-CAB2716D2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937" y="0"/>
            <a:ext cx="8162126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A3DB4C1-B0E7-E076-58E9-06EF821921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937" y="0"/>
            <a:ext cx="8162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34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A2393-8768-D5A7-A23A-9E9551747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DCE1B2-9C9A-6FE4-F7C7-C507D5171F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779"/>
            <a:ext cx="12192000" cy="613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90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92BA6BF-78C4-38B4-3336-60109ED5E0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495"/>
            <a:ext cx="12192000" cy="614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52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255905"/>
            <a:ext cx="12192000" cy="6345555"/>
            <a:chOff x="0" y="403"/>
            <a:chExt cx="19200" cy="9993"/>
          </a:xfrm>
          <a:effectLst>
            <a:outerShdw blurRad="254000" algn="ctr" rotWithShape="0">
              <a:prstClr val="black">
                <a:alpha val="25000"/>
              </a:prstClr>
            </a:outerShdw>
          </a:effectLst>
        </p:grpSpPr>
        <p:grpSp>
          <p:nvGrpSpPr>
            <p:cNvPr id="9" name="组合 8"/>
            <p:cNvGrpSpPr/>
            <p:nvPr/>
          </p:nvGrpSpPr>
          <p:grpSpPr>
            <a:xfrm>
              <a:off x="0" y="403"/>
              <a:ext cx="18701" cy="9661"/>
              <a:chOff x="0" y="403"/>
              <a:chExt cx="18701" cy="9661"/>
            </a:xfrm>
            <a:effectLst>
              <a:outerShdw blurRad="254000" algn="ctr" rotWithShape="0">
                <a:prstClr val="black">
                  <a:alpha val="25000"/>
                </a:prstClr>
              </a:outerShdw>
            </a:effectLst>
          </p:grpSpPr>
          <p:sp>
            <p:nvSpPr>
              <p:cNvPr id="5" name="矩形 4"/>
              <p:cNvSpPr/>
              <p:nvPr/>
            </p:nvSpPr>
            <p:spPr>
              <a:xfrm>
                <a:off x="500" y="736"/>
                <a:ext cx="18201" cy="932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D9D9D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0" y="403"/>
                <a:ext cx="14360" cy="367"/>
              </a:xfrm>
              <a:prstGeom prst="rect">
                <a:avLst/>
              </a:prstGeom>
              <a:solidFill>
                <a:srgbClr val="1E4E9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CN Heavy" panose="020B0A00000000000000" charset="-122"/>
                  <a:ea typeface="思源黑体 CN Heavy" panose="020B0A00000000000000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4840" y="10030"/>
              <a:ext cx="14360" cy="367"/>
            </a:xfrm>
            <a:prstGeom prst="rect">
              <a:avLst/>
            </a:prstGeom>
            <a:solidFill>
              <a:srgbClr val="1E4E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Heavy" panose="020B0A00000000000000" charset="-122"/>
                <a:ea typeface="思源黑体 CN Heavy" panose="020B0A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7" name="椭圆 6"/>
          <p:cNvSpPr/>
          <p:nvPr/>
        </p:nvSpPr>
        <p:spPr>
          <a:xfrm>
            <a:off x="11379200" y="762000"/>
            <a:ext cx="245110" cy="24511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Heavy" panose="020B0A00000000000000" charset="-122"/>
              <a:ea typeface="思源黑体 CN Heavy" panose="020B0A00000000000000" charset="-122"/>
              <a:cs typeface="思源黑体 CN Normal" panose="020B04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49755" y="2349500"/>
            <a:ext cx="8493760" cy="144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000" b="1" spc="500" dirty="0">
                <a:solidFill>
                  <a:srgbClr val="1E4E92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谢谢！</a:t>
            </a:r>
            <a:endParaRPr lang="zh-CN" altLang="en-US" sz="8000" b="1" spc="500" dirty="0">
              <a:solidFill>
                <a:srgbClr val="1E4E92"/>
              </a:solidFill>
              <a:uFillTx/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BkYmViNWY3MWUwZWViYjBlZjJkZDFiYWQ4NWIxMGMifQ=="/>
  <p:tag name="KSO_WPP_MARK_KEY" val="9f76b57d-85d0-48eb-916d-6def0a33578d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思源黑体 CN Heavy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思源黑体 CN Normal"/>
        <a:font script="Hant" typeface="微軟正黑體"/>
        <a:font script="Arab" typeface="Arial"/>
        <a:font script="Hebr" typeface="Arial"/>
        <a:font script="Thai" typeface="思源黑体 CN Heavy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思源黑体 CN Heavy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思源黑体 CN Heavy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1275</Words>
  <Application>Microsoft Office PowerPoint</Application>
  <PresentationFormat>宽屏</PresentationFormat>
  <Paragraphs>151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思源黑体 CN Heavy</vt:lpstr>
      <vt:lpstr>思源黑体 CN Normal</vt:lpstr>
      <vt:lpstr>微软雅黑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fan Zhang</cp:lastModifiedBy>
  <cp:revision>41</cp:revision>
  <dcterms:created xsi:type="dcterms:W3CDTF">2021-11-02T03:00:00Z</dcterms:created>
  <dcterms:modified xsi:type="dcterms:W3CDTF">2026-07-16T01:24:40Z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9183BD48FC064A7D98A542C9B2F78992</vt:lpwstr>
  </property>
  <property fmtid="{D5CDD505-2E9C-101B-9397-08002B2CF9AE}" pid="3" name="KSOProductBuildVer">
    <vt:lpwstr>2052-12.1.0.20305</vt:lpwstr>
  </property>
</Properties>
</file>